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8595360" y="640080"/>
            <a:ext cx="2194560" cy="2194560"/>
          </a:xfrm>
          <a:prstGeom prst="ellipse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9966960" y="2286000"/>
            <a:ext cx="1463040" cy="1463040"/>
          </a:xfrm>
          <a:prstGeom prst="ellipse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8138160" y="4023360"/>
            <a:ext cx="1234440" cy="1234440"/>
          </a:xfrm>
          <a:prstGeom prst="ellipse">
            <a:avLst/>
          </a:prstGeom>
          <a:solidFill>
            <a:srgbClr val="DAB46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241280" y="4389120"/>
            <a:ext cx="914400" cy="914400"/>
          </a:xfrm>
          <a:prstGeom prst="ellipse">
            <a:avLst/>
          </a:prstGeom>
          <a:solidFill>
            <a:srgbClr val="C75A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960120"/>
            <a:ext cx="7040880" cy="3657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C58A"/>
                </a:solidFill>
                <a:latin typeface="Aptos"/>
              </a:rPr>
              <a:t>SALES REPORT • SAMPLE BUSINESS DATA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1645920"/>
            <a:ext cx="7132320" cy="1417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3400" b="1">
                <a:solidFill>
                  <a:srgbClr val="FFFFFF"/>
                </a:solidFill>
                <a:latin typeface="Aptos"/>
              </a:rPr>
              <a:t>Snacks &amp; Food Items
Sales Performance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4672" y="3401568"/>
            <a:ext cx="658368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700" b="0">
                <a:solidFill>
                  <a:srgbClr val="E1E7ED"/>
                </a:solidFill>
                <a:latin typeface="Aptos"/>
              </a:rPr>
              <a:t>A sample business presentation covering product mix, revenue, channels, inventory, customer behavior, and sales strategy.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22960" y="4983480"/>
            <a:ext cx="1554480" cy="713232"/>
          </a:xfrm>
          <a:prstGeom prst="roundRect">
            <a:avLst/>
          </a:prstGeom>
          <a:solidFill>
            <a:srgbClr val="304152"/>
          </a:solidFill>
          <a:ln>
            <a:solidFill>
              <a:srgbClr val="4E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96112" y="5056632"/>
            <a:ext cx="1408176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12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96112" y="5376672"/>
            <a:ext cx="14081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D6DEE5"/>
                </a:solidFill>
                <a:latin typeface="Aptos"/>
              </a:rPr>
              <a:t>PRODUCTS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2560320" y="4983480"/>
            <a:ext cx="1554480" cy="713232"/>
          </a:xfrm>
          <a:prstGeom prst="roundRect">
            <a:avLst/>
          </a:prstGeom>
          <a:solidFill>
            <a:srgbClr val="304152"/>
          </a:solidFill>
          <a:ln>
            <a:solidFill>
              <a:srgbClr val="4E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633472" y="5056632"/>
            <a:ext cx="1408176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633472" y="5376672"/>
            <a:ext cx="14081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D6DEE5"/>
                </a:solidFill>
                <a:latin typeface="Aptos"/>
              </a:rPr>
              <a:t>SALES CHANNELS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480560" y="4983480"/>
            <a:ext cx="1554480" cy="713232"/>
          </a:xfrm>
          <a:prstGeom prst="roundRect">
            <a:avLst/>
          </a:prstGeom>
          <a:solidFill>
            <a:srgbClr val="304152"/>
          </a:solidFill>
          <a:ln>
            <a:solidFill>
              <a:srgbClr val="4E5B6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53712" y="5056632"/>
            <a:ext cx="1408176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ptos"/>
              </a:rPr>
              <a:t>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53712" y="5376672"/>
            <a:ext cx="1408176" cy="16459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800" b="1">
                <a:solidFill>
                  <a:srgbClr val="D6DEE5"/>
                </a:solidFill>
                <a:latin typeface="Aptos"/>
              </a:rPr>
              <a:t>INR CURRENCY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4672" y="6217920"/>
            <a:ext cx="6400800" cy="2286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000" b="0">
                <a:solidFill>
                  <a:srgbClr val="D6DEE5"/>
                </a:solidFill>
                <a:latin typeface="Aptos"/>
              </a:rPr>
              <a:t>Illustrative figures only — not actual company results.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1. 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A quick view of the fictional snacks and food business.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45920"/>
            <a:ext cx="6492240" cy="1645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0">
                <a:solidFill>
                  <a:srgbClr val="2D3339"/>
                </a:solidFill>
                <a:latin typeface="Aptos"/>
              </a:rPr>
              <a:t>The business sells packaged snacks, bakery products, beverages, and pantry staples through retail stores, wholesalers, online orders, and direct business accounts. In this illustrative period, revenue is concentrated in a few high-volume products, while availability and repeat purchases strongly influence weekly performance.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635240" y="169164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726679" y="1856232"/>
            <a:ext cx="15087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Aptos"/>
              </a:rPr>
              <a:t>₹12.8L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26679" y="2313432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646E78"/>
                </a:solidFill>
                <a:latin typeface="Aptos"/>
              </a:rPr>
              <a:t>NET SALES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509760" y="169164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0" y="1856232"/>
            <a:ext cx="15087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377D57"/>
                </a:solidFill>
                <a:latin typeface="Aptos"/>
              </a:rPr>
              <a:t>18.4%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2313432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646E78"/>
                </a:solidFill>
                <a:latin typeface="Aptos"/>
              </a:rPr>
              <a:t>GROSS MARGIN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635240" y="306324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726679" y="3227832"/>
            <a:ext cx="15087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223041"/>
                </a:solidFill>
                <a:latin typeface="Aptos"/>
              </a:rPr>
              <a:t>4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726679" y="3685032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646E78"/>
                </a:solidFill>
                <a:latin typeface="Aptos"/>
              </a:rPr>
              <a:t>CHANNELS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509760" y="3063240"/>
            <a:ext cx="1691640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601200" y="3227832"/>
            <a:ext cx="150876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2000" b="1">
                <a:solidFill>
                  <a:srgbClr val="E67E22"/>
                </a:solidFill>
                <a:latin typeface="Aptos"/>
              </a:rPr>
              <a:t>12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601200" y="3685032"/>
            <a:ext cx="1508760" cy="25603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ctr"/>
            <a:r>
              <a:rPr sz="900" b="1">
                <a:solidFill>
                  <a:srgbClr val="646E78"/>
                </a:solidFill>
                <a:latin typeface="Aptos"/>
              </a:rPr>
              <a:t>PRODUCTS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3977639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3041"/>
                </a:solidFill>
                <a:latin typeface="Aptos"/>
              </a:rPr>
              <a:t>Management priorities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22960" y="4407408"/>
            <a:ext cx="10241280" cy="150876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339"/>
                </a:solidFill>
                <a:latin typeface="Aptos"/>
              </a:defRPr>
            </a:pPr>
            <a:r>
              <a:t>• Protect availability of best-selling chips, biscuits, and namkeen.</a:t>
            </a:r>
          </a:p>
          <a:p>
            <a:pPr>
              <a:spcAft>
                <a:spcPts val="700"/>
              </a:spcAft>
              <a:defRPr sz="1400">
                <a:solidFill>
                  <a:srgbClr val="2D3339"/>
                </a:solidFill>
                <a:latin typeface="Aptos"/>
              </a:defRPr>
            </a:pPr>
            <a:r>
              <a:t>• Improve margin through buying terms, pack-size choices, and reduced expiry waste.</a:t>
            </a:r>
          </a:p>
          <a:p>
            <a:pPr>
              <a:spcAft>
                <a:spcPts val="700"/>
              </a:spcAft>
              <a:defRPr sz="1400">
                <a:solidFill>
                  <a:srgbClr val="2D3339"/>
                </a:solidFill>
                <a:latin typeface="Aptos"/>
              </a:defRPr>
            </a:pPr>
            <a:r>
              <a:t>• Measure incremental sales from promotions rather than discount volume alone.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2. Product Portfolio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Representative products, price points, and positioning.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03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85800" y="1627632"/>
          <a:ext cx="1083564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011680"/>
                <a:gridCol w="1645920"/>
                <a:gridCol w="4434840"/>
              </a:tblGrid>
              <a:tr h="348175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Illustrative MRP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Positioning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Potato Chips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Snacks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Impulse / high frequency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Masala Namkeen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Snacks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₹30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Regional favorite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Salted Peanuts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Snacks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₹25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Affordable snack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Cream Biscuits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Biscuits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Family and tea-time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Oat Cookies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Biscuits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₹45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Premium / better-for-you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Chocolate Bar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Confectionery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₹40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Treat / impulse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Popcorn Pack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Snacks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₹35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Movie-time snack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Fruit Juice 200 ml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Beverage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₹30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On-the-go refreshment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Bottled Water 1 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Beverage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Convenience essential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Instant Noodles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Convenience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₹25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Quick meal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348175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Breakfast Cereal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Breakfast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₹160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Pantry staple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34818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Peanut Butter 340 g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Spread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₹180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Breakfast / fitness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3. Sales by Category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Illustrative quarterly results; values are fictional and rounded.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04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77240" y="1737360"/>
          <a:ext cx="10607040" cy="3566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2560320"/>
                <a:gridCol w="2194560"/>
                <a:gridCol w="2743200"/>
              </a:tblGrid>
              <a:tr h="44577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Net Sales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Units Sold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Gross Margin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Snacks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₹4,20,000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2,800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22.0%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Biscuits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₹2,65,000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2,100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17.5%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Beverages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₹2,10,000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1,750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16.0%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Confectionery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₹1,45,000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900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20.5%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Convenience Foods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₹1,35,000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850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15.0%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Breakfast &amp; Spreads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₹1,25,000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520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19.0%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44577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Total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₹13,00,000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8,920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19.1%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68680" y="5486400"/>
            <a:ext cx="10241280" cy="68580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223041"/>
                </a:solidFill>
                <a:latin typeface="Aptos"/>
              </a:rPr>
              <a:t>Interpretation: Snacks contribute the largest share of sales. Breakfast and spreads have fewer units but can add basket value; margin comparisons should account for product mix and promotion levels.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4. Sales Channel Mix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Channels play different roles in reach, basket size, and repeat frequency.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05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45920"/>
          <a:ext cx="10698480" cy="2514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2194560"/>
                <a:gridCol w="1920240"/>
                <a:gridCol w="4206240"/>
              </a:tblGrid>
              <a:tr h="502920"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Channel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Net Sales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Sales Share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Primary Role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Retail stores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₹5,20,000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40.0%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Daily impulse purchases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Wholesalers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₹3,25,000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25.0%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Volume and market coverage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Online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₹2,60,000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20.0%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Convenience and bundles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Direct business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₹1,95,000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15.0%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Offices, cafés, institutions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480560"/>
            <a:ext cx="49377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3041"/>
                </a:solidFill>
                <a:latin typeface="Aptos"/>
              </a:rPr>
              <a:t>Channel strategy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4864608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339"/>
                </a:solidFill>
                <a:latin typeface="Aptos"/>
              </a:defRPr>
            </a:pPr>
            <a:r>
              <a:t>• Retail: improve shelf visibility and checkout placement.</a:t>
            </a:r>
          </a:p>
          <a:p>
            <a:pPr>
              <a:spcAft>
                <a:spcPts val="700"/>
              </a:spcAft>
              <a:defRPr sz="1300">
                <a:solidFill>
                  <a:srgbClr val="2D3339"/>
                </a:solidFill>
                <a:latin typeface="Aptos"/>
              </a:defRPr>
            </a:pPr>
            <a:r>
              <a:t>• Wholesale: use slab pricing and dependable fulfilment.</a:t>
            </a:r>
          </a:p>
          <a:p>
            <a:pPr>
              <a:spcAft>
                <a:spcPts val="700"/>
              </a:spcAft>
              <a:defRPr sz="1300">
                <a:solidFill>
                  <a:srgbClr val="2D3339"/>
                </a:solidFill>
                <a:latin typeface="Aptos"/>
              </a:defRPr>
            </a:pPr>
            <a:r>
              <a:t>• Online: bundle complementary items and monitor delivery costs.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0" y="4480560"/>
            <a:ext cx="48463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3041"/>
                </a:solidFill>
                <a:latin typeface="Aptos"/>
              </a:rPr>
              <a:t>Watch-outs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263640" y="4864608"/>
            <a:ext cx="4937760" cy="118872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300">
                <a:solidFill>
                  <a:srgbClr val="2D3339"/>
                </a:solidFill>
                <a:latin typeface="Aptos"/>
              </a:defRPr>
            </a:pPr>
            <a:r>
              <a:t>• Avoid channel conflict from inconsistent pricing.</a:t>
            </a:r>
          </a:p>
          <a:p>
            <a:pPr>
              <a:spcAft>
                <a:spcPts val="700"/>
              </a:spcAft>
              <a:defRPr sz="1300">
                <a:solidFill>
                  <a:srgbClr val="2D3339"/>
                </a:solidFill>
                <a:latin typeface="Aptos"/>
              </a:defRPr>
            </a:pPr>
            <a:r>
              <a:t>• Track returns, damaged packs, and delivery losses.</a:t>
            </a:r>
          </a:p>
          <a:p>
            <a:pPr>
              <a:spcAft>
                <a:spcPts val="700"/>
              </a:spcAft>
              <a:defRPr sz="1300">
                <a:solidFill>
                  <a:srgbClr val="2D3339"/>
                </a:solidFill>
                <a:latin typeface="Aptos"/>
              </a:defRPr>
            </a:pPr>
            <a:r>
              <a:t>• Compare contribution after discounts and fees.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5. Customer Segments &amp; Buying Behavior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Tailor offers to customer needs rather than using one promotion for everyone.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06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916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77240" y="1691640"/>
            <a:ext cx="73152" cy="182880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78408" y="1856232"/>
            <a:ext cx="3063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223041"/>
                </a:solidFill>
                <a:latin typeface="Aptos"/>
              </a:rPr>
              <a:t>Households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258568"/>
            <a:ext cx="30632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2D3339"/>
                </a:solidFill>
                <a:latin typeface="Aptos"/>
              </a:rPr>
              <a:t>Prefer familiar brands, affordable pack sizes, and weekly value offers.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16916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89120" y="1691640"/>
            <a:ext cx="73152" cy="1828800"/>
          </a:xfrm>
          <a:prstGeom prst="rect">
            <a:avLst/>
          </a:prstGeom>
          <a:solidFill>
            <a:srgbClr val="377D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1856232"/>
            <a:ext cx="3063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223041"/>
                </a:solidFill>
                <a:latin typeface="Aptos"/>
              </a:rPr>
              <a:t>Students &amp; Young Adults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90288" y="2258568"/>
            <a:ext cx="30632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2D3339"/>
                </a:solidFill>
                <a:latin typeface="Aptos"/>
              </a:rPr>
              <a:t>Respond to portable snacks, combo offers, and convenient single-serve packs.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691640"/>
            <a:ext cx="3429000" cy="1828800"/>
          </a:xfrm>
          <a:prstGeom prst="roundRect">
            <a:avLst/>
          </a:prstGeom>
          <a:solidFill>
            <a:srgbClr val="FFFFFF"/>
          </a:solidFill>
          <a:ln>
            <a:solidFill>
              <a:srgbClr val="DBE1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8001000" y="1691640"/>
            <a:ext cx="73152" cy="1828800"/>
          </a:xfrm>
          <a:prstGeom prst="rect">
            <a:avLst/>
          </a:prstGeom>
          <a:solidFill>
            <a:srgbClr val="22304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202168" y="1856232"/>
            <a:ext cx="306324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223041"/>
                </a:solidFill>
                <a:latin typeface="Aptos"/>
              </a:rPr>
              <a:t>Offices &amp; Institutions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02168" y="2258568"/>
            <a:ext cx="3063240" cy="11887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2D3339"/>
                </a:solidFill>
                <a:latin typeface="Aptos"/>
              </a:rPr>
              <a:t>Value bulk packs, predictable delivery, invoicing, and consistent availability.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3977639"/>
            <a:ext cx="1051560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3041"/>
                </a:solidFill>
                <a:latin typeface="Aptos"/>
              </a:rPr>
              <a:t>Practical customer insights to collect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14400" y="4407408"/>
            <a:ext cx="10058400" cy="155448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400">
                <a:solidFill>
                  <a:srgbClr val="2D3339"/>
                </a:solidFill>
                <a:latin typeface="Aptos"/>
              </a:defRPr>
            </a:pPr>
            <a:r>
              <a:t>• Purchase frequency and average basket value by segment.</a:t>
            </a:r>
          </a:p>
          <a:p>
            <a:pPr>
              <a:spcAft>
                <a:spcPts val="700"/>
              </a:spcAft>
              <a:defRPr sz="1400">
                <a:solidFill>
                  <a:srgbClr val="2D3339"/>
                </a:solidFill>
                <a:latin typeface="Aptos"/>
              </a:defRPr>
            </a:pPr>
            <a:r>
              <a:t>• Preferred brands, pack sizes, flavors, and dietary requirements.</a:t>
            </a:r>
          </a:p>
          <a:p>
            <a:pPr>
              <a:spcAft>
                <a:spcPts val="700"/>
              </a:spcAft>
              <a:defRPr sz="1400">
                <a:solidFill>
                  <a:srgbClr val="2D3339"/>
                </a:solidFill>
                <a:latin typeface="Aptos"/>
              </a:defRPr>
            </a:pPr>
            <a:r>
              <a:t>• Reasons for switching: price, stock-outs, quality, freshness, or delivery.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5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6. Inventory, Freshness &amp; Supply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Availability matters, but overstocking short shelf-life items can destroy margin.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07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64208"/>
          <a:ext cx="10698480" cy="2971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1463040"/>
                <a:gridCol w="2286000"/>
                <a:gridCol w="4754880"/>
              </a:tblGrid>
              <a:tr h="495300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Product Group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Demand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Expiry / Handling Risk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Recommended Control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Potato Chips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Daily shelf checks; replenish fast movers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Biscuits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High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Low–Medium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Use FEFO rotation and carton controls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Juice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Medium–High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Monitor expiry and storage requirements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Chocolate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Medium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High in heat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Protect from heat; inspect packaging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495300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Breakfast Cereal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Low–Medium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Low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Reorder to demand; avoid slow variants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3041"/>
                </a:solidFill>
                <a:latin typeface="Aptos"/>
              </a:rPr>
              <a:t>Operating rules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10241280" cy="9144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D3339"/>
                </a:solidFill>
                <a:latin typeface="Aptos"/>
              </a:defRPr>
            </a:pPr>
            <a:r>
              <a:t>• Apply FEFO (First Expired, First Out) for dated goods.</a:t>
            </a:r>
          </a:p>
          <a:p>
            <a:pPr>
              <a:spcAft>
                <a:spcPts val="700"/>
              </a:spcAft>
              <a:defRPr sz="1200">
                <a:solidFill>
                  <a:srgbClr val="2D3339"/>
                </a:solidFill>
                <a:latin typeface="Aptos"/>
              </a:defRPr>
            </a:pPr>
            <a:r>
              <a:t>• Record batch, expiry date, damage, and supplier lot for traceability.</a:t>
            </a:r>
          </a:p>
          <a:p>
            <a:pPr>
              <a:spcAft>
                <a:spcPts val="700"/>
              </a:spcAft>
              <a:defRPr sz="1200">
                <a:solidFill>
                  <a:srgbClr val="2D3339"/>
                </a:solidFill>
                <a:latin typeface="Aptos"/>
              </a:defRPr>
            </a:pPr>
            <a:r>
              <a:t>• Set reorder points from lead time and recent sales.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7F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7. Promotions &amp; Merchandising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Promotions should drive incremental, profitable sales—not simply move purchases forward.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08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731520" y="1664208"/>
          <a:ext cx="1069848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20240"/>
                <a:gridCol w="2377440"/>
                <a:gridCol w="2194560"/>
                <a:gridCol w="4206240"/>
              </a:tblGrid>
              <a:tr h="576072"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Mechanic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Example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Objective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Success Measure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Combo bundle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Chips + beverage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Increase basket value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Compare bundle margin vs. items separately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Multi-buy offer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Biscuits: 3 packs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Lift units per trip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Check incrementality vs. stockpiling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Seasonal display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Namkeen and sweets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Capture festive demand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Track sell-through and leftover stock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576072"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Trial-size offer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New snack flavor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Encourage trial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Measure repeat purchase after sampling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4892040"/>
            <a:ext cx="1033272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800" b="1">
                <a:solidFill>
                  <a:srgbClr val="223041"/>
                </a:solidFill>
                <a:latin typeface="Aptos"/>
              </a:rPr>
              <a:t>Promotion measurement checklist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5285232"/>
            <a:ext cx="10241280" cy="914400"/>
          </a:xfrm>
          <a:prstGeom prst="rect">
            <a:avLst/>
          </a:prstGeom>
          <a:noFill/>
        </p:spPr>
        <p:txBody>
          <a:bodyPr wrap="square" lIns="45720" rIns="45720" tIns="18288">
            <a:spAutoFit/>
          </a:bodyPr>
          <a:lstStyle/>
          <a:p>
            <a:pPr>
              <a:spcAft>
                <a:spcPts val="700"/>
              </a:spcAft>
              <a:defRPr sz="1200">
                <a:solidFill>
                  <a:srgbClr val="2D3339"/>
                </a:solidFill>
                <a:latin typeface="Aptos"/>
              </a:defRPr>
            </a:pPr>
            <a:r>
              <a:t>• Compare baseline and promoted sales, accounting for seasonality.</a:t>
            </a:r>
          </a:p>
          <a:p>
            <a:pPr>
              <a:spcAft>
                <a:spcPts val="700"/>
              </a:spcAft>
              <a:defRPr sz="1200">
                <a:solidFill>
                  <a:srgbClr val="2D3339"/>
                </a:solidFill>
                <a:latin typeface="Aptos"/>
              </a:defRPr>
            </a:pPr>
            <a:r>
              <a:t>• Measure margin after discounts, retailer support, and platform fees.</a:t>
            </a:r>
          </a:p>
          <a:p>
            <a:pPr>
              <a:spcAft>
                <a:spcPts val="700"/>
              </a:spcAft>
              <a:defRPr sz="1200">
                <a:solidFill>
                  <a:srgbClr val="2D3339"/>
                </a:solidFill>
                <a:latin typeface="Aptos"/>
              </a:defRPr>
            </a:pPr>
            <a:r>
              <a:t>• Track availability, cannibalization, and post-promotion repeat rate.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223041"/>
                </a:solidFill>
                <a:latin typeface="Aptos"/>
              </a:rPr>
              <a:t>8. Next-Quarter Sales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646E78"/>
                </a:solidFill>
                <a:latin typeface="Aptos"/>
              </a:rPr>
              <a:t>Illustrative targets for planning and table-extraction tests.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646E78"/>
                </a:solidFill>
                <a:latin typeface="Aptos"/>
              </a:rPr>
              <a:t>09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640080" y="1627632"/>
          <a:ext cx="10972799" cy="3246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48840"/>
                <a:gridCol w="1828800"/>
                <a:gridCol w="1828800"/>
                <a:gridCol w="1188720"/>
                <a:gridCol w="3977639"/>
              </a:tblGrid>
              <a:tr h="463731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Category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Current Sales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Target Sales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Growth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Aptos"/>
                        </a:defRPr>
                      </a:pPr>
                      <a:r>
                        <a:t>Priority Action</a:t>
                      </a:r>
                    </a:p>
                  </a:txBody>
                  <a:tcPr marL="64008" marR="45720" marT="32004" marB="22860">
                    <a:solidFill>
                      <a:srgbClr val="223041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Snacks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₹4.20L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₹4.62L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+10%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Protect top sellers; add regional flavors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Biscuits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₹2.65L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₹2.86L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+8%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Expand tea-time multipacks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Beverages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₹2.10L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₹2.35L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+12%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Seasonal visibility and cold availability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Confectionery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₹1.45L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₹1.57L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+8%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Checkout placement; gift packs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  <a:tr h="463731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Convenience Foods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₹1.35L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₹1.49L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+10%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Improve range and availability</a:t>
                      </a:r>
                    </a:p>
                  </a:txBody>
                  <a:tcPr marL="64008" marR="45720" marT="32004" marB="22860">
                    <a:solidFill>
                      <a:srgbClr val="FFFFFF"/>
                    </a:solidFill>
                  </a:tcPr>
                </a:tc>
              </a:tr>
              <a:tr h="463734"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Breakfast &amp; Spreads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₹1.25L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₹1.36L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+9%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2D3339"/>
                          </a:solidFill>
                          <a:latin typeface="Aptos"/>
                        </a:defRPr>
                      </a:pPr>
                      <a:r>
                        <a:t>Cross-sell cereal and spreads</a:t>
                      </a:r>
                    </a:p>
                  </a:txBody>
                  <a:tcPr marL="64008" marR="45720" marT="32004" marB="22860">
                    <a:solidFill>
                      <a:srgbClr val="F2F5F8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822960" y="5166360"/>
            <a:ext cx="10332720" cy="82296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0">
                <a:solidFill>
                  <a:srgbClr val="2D3339"/>
                </a:solidFill>
                <a:latin typeface="Aptos"/>
              </a:rPr>
              <a:t>Planning assumption: targets are directional, not a statistical forecast. Validate them against seasonality, distribution coverage, supplier capacity, price changes, and promotional calendar before using them operationally.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646E78"/>
                </a:solidFill>
                <a:latin typeface="Aptos"/>
              </a:rPr>
              <a:t>SNACKS &amp; FOOD SALES • ILLUSTRATIVE FIGURES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2304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47472"/>
            <a:ext cx="10972800" cy="5029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2800" b="1">
                <a:solidFill>
                  <a:srgbClr val="FFFFFF"/>
                </a:solidFill>
                <a:latin typeface="Aptos"/>
              </a:rPr>
              <a:t>9. Recommendations &amp; 30-Day Action Plan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21792" y="896112"/>
            <a:ext cx="10972800" cy="347472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200" b="0">
                <a:solidFill>
                  <a:srgbClr val="E0E5EA"/>
                </a:solidFill>
                <a:latin typeface="Aptos"/>
              </a:rPr>
              <a:t>Turn the analysis into a measurable operating rhythm.</a:t>
            </a:r>
          </a:p>
        </p:txBody>
      </p:sp>
      <p:sp>
        <p:nvSpPr>
          <p:cNvPr id="4" name="Rectangle 3"/>
          <p:cNvSpPr/>
          <p:nvPr/>
        </p:nvSpPr>
        <p:spPr>
          <a:xfrm>
            <a:off x="621792" y="1353312"/>
            <a:ext cx="731520" cy="50292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1155680" y="6446520"/>
            <a:ext cx="41148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r"/>
            <a:r>
              <a:rPr sz="900" b="1">
                <a:solidFill>
                  <a:srgbClr val="D2DCE6"/>
                </a:solidFill>
                <a:latin typeface="Aptos"/>
              </a:rPr>
              <a:t>10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1600200"/>
            <a:ext cx="10698480" cy="713232"/>
          </a:xfrm>
          <a:prstGeom prst="roundRect">
            <a:avLst/>
          </a:prstGeom>
          <a:solidFill>
            <a:srgbClr val="2D3E51"/>
          </a:solidFill>
          <a:ln>
            <a:solidFill>
              <a:srgbClr val="4C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60120" y="1737360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C58A"/>
                </a:solidFill>
                <a:latin typeface="Aptos"/>
              </a:rPr>
              <a:t>Week 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240280" y="1719072"/>
            <a:ext cx="1965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Validate data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251960" y="1719072"/>
            <a:ext cx="6903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E1E7ED"/>
                </a:solidFill>
                <a:latin typeface="Aptos"/>
              </a:rPr>
              <a:t>Confirm SKU sales, margins, returns, expiry, and stock-on-hand.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514600"/>
            <a:ext cx="10698480" cy="713232"/>
          </a:xfrm>
          <a:prstGeom prst="roundRect">
            <a:avLst/>
          </a:prstGeom>
          <a:solidFill>
            <a:srgbClr val="2D3E51"/>
          </a:solidFill>
          <a:ln>
            <a:solidFill>
              <a:srgbClr val="4C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960120" y="2651760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C58A"/>
                </a:solidFill>
                <a:latin typeface="Aptos"/>
              </a:rPr>
              <a:t>Week 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40280" y="2633472"/>
            <a:ext cx="1965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Fix availability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251960" y="2633472"/>
            <a:ext cx="6903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E1E7ED"/>
                </a:solidFill>
                <a:latin typeface="Aptos"/>
              </a:rPr>
              <a:t>Set reorder points for fast movers and implement FEFO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77240" y="3429000"/>
            <a:ext cx="10698480" cy="713232"/>
          </a:xfrm>
          <a:prstGeom prst="roundRect">
            <a:avLst/>
          </a:prstGeom>
          <a:solidFill>
            <a:srgbClr val="2D3E51"/>
          </a:solidFill>
          <a:ln>
            <a:solidFill>
              <a:srgbClr val="4C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0120" y="3566160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C58A"/>
                </a:solidFill>
                <a:latin typeface="Aptos"/>
              </a:rPr>
              <a:t>Week 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240280" y="3547872"/>
            <a:ext cx="1965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Test promotions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251960" y="3547872"/>
            <a:ext cx="6903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E1E7ED"/>
                </a:solidFill>
                <a:latin typeface="Aptos"/>
              </a:rPr>
              <a:t>Run one bundle and one multipack test with clear control metrics.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77240" y="4343400"/>
            <a:ext cx="10698480" cy="713232"/>
          </a:xfrm>
          <a:prstGeom prst="roundRect">
            <a:avLst/>
          </a:prstGeom>
          <a:solidFill>
            <a:srgbClr val="2D3E51"/>
          </a:solidFill>
          <a:ln>
            <a:solidFill>
              <a:srgbClr val="4C5C6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60120" y="4480560"/>
            <a:ext cx="1143000" cy="27432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1">
                <a:solidFill>
                  <a:srgbClr val="FFC58A"/>
                </a:solidFill>
                <a:latin typeface="Aptos"/>
              </a:rPr>
              <a:t>Week 4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2240280" y="4462272"/>
            <a:ext cx="1965960" cy="32004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600" b="1">
                <a:solidFill>
                  <a:srgbClr val="FFFFFF"/>
                </a:solidFill>
                <a:latin typeface="Aptos"/>
              </a:rPr>
              <a:t>Review results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251960" y="4462272"/>
            <a:ext cx="690372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300" b="0">
                <a:solidFill>
                  <a:srgbClr val="E1E7ED"/>
                </a:solidFill>
                <a:latin typeface="Aptos"/>
              </a:rPr>
              <a:t>Compare net sales, contribution margin, stock-outs, and repeat rate.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68680" y="5623560"/>
            <a:ext cx="10515600" cy="411480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1400" b="1">
                <a:solidFill>
                  <a:srgbClr val="A0E0CA"/>
                </a:solidFill>
                <a:latin typeface="Aptos"/>
              </a:rPr>
              <a:t>Success measures: higher availability • improved margin • lower expiry waste • stronger repeat sales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21792" y="6446520"/>
            <a:ext cx="7772400" cy="201168"/>
          </a:xfrm>
          <a:prstGeom prst="rect">
            <a:avLst/>
          </a:prstGeom>
          <a:noFill/>
        </p:spPr>
        <p:txBody>
          <a:bodyPr wrap="square" lIns="36576" rIns="36576" tIns="18288" bIns="18288">
            <a:spAutoFit/>
          </a:bodyPr>
          <a:lstStyle/>
          <a:p>
            <a:pPr algn="l"/>
            <a:r>
              <a:rPr sz="800" b="0">
                <a:solidFill>
                  <a:srgbClr val="CCD6DF"/>
                </a:solidFill>
                <a:latin typeface="Aptos"/>
              </a:rPr>
              <a:t>SNACKS &amp; FOOD SALES • ILLUSTRATIVE FIGURES ONLY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